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8" r:id="rId10"/>
    <p:sldId id="262" r:id="rId11"/>
    <p:sldId id="263" r:id="rId12"/>
    <p:sldId id="269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93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ISY1101 · DevOps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Contenedorización y Despliegue en AWS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C4D8"/>
                </a:solidFill>
              </a:rPr>
              <a:t>Docker  ·  GitHub Actions  ·  AWS EC2  ·  Docker Hub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7080"/>
                </a:solidFill>
              </a:rPr>
              <a:t>Duoc UC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 la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Arquitectura y Contenedorización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Dockerfile · Frontend y 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Comandos Docker y Docker Compose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Build · Run · Push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Registro de Imágenes — Docker 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Tag · Push · Versionado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Pipeline CI/CD con GitHub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Workflow · Secrets · deploy branch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754880" y="2240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Despliegue en AWS EC2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Instancia · Runner · Entorno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Principios DevOps Aplicados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Escalabilidad · Trazabilidad · Seguridad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Arquitectura y Contenedorización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Imagen: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frontend-despacho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Comando Build: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frontend-despacho 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Multi-stage 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Usuario no root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739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Capas optimizadas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Despachos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Imagen: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backend-despacho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Comando Build: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42316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33756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backend-despacho 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Multi-stage build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Usuario no root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739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Capas optimizadas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2D9B5A"/>
          </a:solidFill>
          <a:ln w="12700">
            <a:solidFill>
              <a:srgbClr val="2D9B5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Ventas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Imagen: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backend-ventas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Comando Build: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42316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26364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backend-ventas 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Multi-stage build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Usuario no root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7398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✓ Capas optimizadas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</a:rPr>
              <a:t>Cada microservicio está contenedorizado de forma independiente para garantizar escalabilidad y aislamiento.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106623" y="458046"/>
            <a:ext cx="569713" cy="42832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108327" y="257309"/>
            <a:ext cx="361991" cy="4141060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83" y="255318"/>
            <a:ext cx="3472603" cy="3949346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C34D29-87BA-9C7A-DCEB-49C94D0FD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3" y="772697"/>
            <a:ext cx="3058892" cy="2974771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35" y="803672"/>
            <a:ext cx="5467663" cy="3931723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77E2F5-509C-6072-F55D-1ABFE297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286" y="1344813"/>
            <a:ext cx="3626098" cy="30535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6D053A8-FC80-ADD7-EF6C-62234BE035BE}"/>
              </a:ext>
            </a:extLst>
          </p:cNvPr>
          <p:cNvSpPr txBox="1"/>
          <p:nvPr/>
        </p:nvSpPr>
        <p:spPr>
          <a:xfrm>
            <a:off x="426517" y="316819"/>
            <a:ext cx="24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Dockerfile</a:t>
            </a:r>
            <a:r>
              <a:rPr lang="es-ES" dirty="0"/>
              <a:t> Back End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C6FA5C-EA44-7ED5-ED23-409ADA5B3F36}"/>
              </a:ext>
            </a:extLst>
          </p:cNvPr>
          <p:cNvSpPr txBox="1"/>
          <p:nvPr/>
        </p:nvSpPr>
        <p:spPr>
          <a:xfrm>
            <a:off x="5178939" y="878167"/>
            <a:ext cx="24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Dockerfile</a:t>
            </a:r>
            <a:r>
              <a:rPr lang="es-ES" dirty="0"/>
              <a:t> Front End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1290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Docker Compose — Orquestación Local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0312" y="942649"/>
            <a:ext cx="39776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-110309" y="94540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Comandos Principales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" y="1215807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http://localhost:80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73152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800600" y="1033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Servicios Definidos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3441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Frontend, Backend-Despacho, Backend-Ventas, 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73152" cy="868680"/>
          </a:xfrm>
          <a:prstGeom prst="rect">
            <a:avLst/>
          </a:prstGeom>
          <a:solidFill>
            <a:srgbClr val="2D9B5A"/>
          </a:solidFill>
          <a:ln w="12700">
            <a:solidFill>
              <a:srgbClr val="2D9B5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800600" y="2039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Puerto Expuesto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localhost:80 — Frontend accesible desde navegador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00600" y="3044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Redes Internas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355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Red privada para comunicación entre contenedores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97764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663440" y="3977640"/>
            <a:ext cx="73152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00600" y="4050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Volúmenes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3616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Persistencia de datos de la base de datos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468880"/>
            <a:ext cx="4114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AFD0AEC3-17A8-E42F-A604-563FA84EE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2493211"/>
            <a:ext cx="4251960" cy="2382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8805D44-3D7A-2412-A0D2-83B8F76F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3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Registro de Imágenes — Docker Hub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325880" y="9601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258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Login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560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Autenticación con credenciales Docker Hub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251960" y="9601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2519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Tag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2560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&lt;imagen&gt;:latest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danielx1/&lt;imagen&gt;:v1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Versionado y nombrado de la imagen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274320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178040" y="9601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1780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Push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2148840"/>
            <a:ext cx="25603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26364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danielx1/&lt;imagen&gt;:v1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3063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Publicación al registro remoto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Imágenes publicadas en Docker Hub: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27432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27432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danielx1/backend-despacho:v1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4681728"/>
            <a:ext cx="27432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320040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danielx1/backend-ventas:v1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681728"/>
            <a:ext cx="27432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12648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danielx1/frontend-despacho:v1</a:t>
            </a:r>
            <a:endParaRPr lang="en-US" sz="10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1135F203-B384-55E7-8225-D1BB9F5E2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25883"/>
            <a:ext cx="2537152" cy="4280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Pipeline CI/CD — GitHub 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82880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09728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82880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46888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Docker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09728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1828800" cy="1280160"/>
          </a:xfrm>
          <a:prstGeom prst="rect">
            <a:avLst/>
          </a:prstGeom>
          <a:solidFill>
            <a:srgbClr val="2D9B5A"/>
          </a:solidFill>
          <a:ln w="12700">
            <a:solidFill>
              <a:srgbClr val="2D9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57200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09728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75120" y="960120"/>
            <a:ext cx="1828800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67512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 EC2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23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Gestión de Secrets en GitHub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41148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7432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DOCKER_USERNAME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0312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Usuario de autenticación Docker Hub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38728"/>
            <a:ext cx="41148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274320" y="3538728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274320" y="3538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DOCKER_PASSWORD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03120" y="35387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5568"/>
                </a:solidFill>
              </a:rPr>
              <a:t>Contraseña</a:t>
            </a:r>
            <a:r>
              <a:rPr lang="en-US" sz="1000" dirty="0">
                <a:solidFill>
                  <a:srgbClr val="4A5568"/>
                </a:solidFill>
              </a:rPr>
              <a:t> / token de Docker 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97096"/>
            <a:ext cx="41148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274320" y="4197096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74320" y="41970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EC2_HOST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03120" y="41970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IP pública de la instancia AWS (ej: 100.27.41.185)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1148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66344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EC2_USER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Usuario administrador del servidor (ubuntu)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538728"/>
            <a:ext cx="41148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4663440" y="3538728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663440" y="3538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EC2_SSH_KEY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92240" y="35387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Contenido criptográfico de la llave .pem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0FFBE0-33EF-CDAA-C120-91A3241D6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680402"/>
            <a:ext cx="8178799" cy="3782694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Despliegue en AWS EC2 y Conexion con Power Shell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Preparación del Entorno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su – ubuntu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196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Ingresar como usuario ubuntu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743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331720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docker.io docker-compose-v2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7340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Actualizar e instalar Docker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246120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ubuntu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6484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Agregar usuario al grupo Docker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743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160520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5628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Iniciar todos los servicios en background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Conexión a la Instancia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20624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709160" y="1417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"llavepem.pem" ubuntu@100.27.41.185</a:t>
            </a:r>
            <a:endParaRPr lang="en-US" sz="1000" dirty="0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40579951-379C-2999-7B93-09E02919E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64" y="2115657"/>
            <a:ext cx="3050175" cy="30290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GitHub Actions Runner en EC2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</a:rPr>
              <a:t>El Self-Hosted Runner conecta GitHub Actions directamente con la instancia EC2 para el despliegue automático.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8595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Ir a Settings → Runners en GitHub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En el repositorio, sección Actions → Runners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347472" y="23500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4747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Seleccionar Linux como 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5511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GitHub genera automáticamente los comandos de instalación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47472" y="30358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4747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809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Conectarse al EC2 por SSH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369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Desde PowerShell local: ssh -i "llavepem.pem" ubuntu@100.27.41.185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2" name="Shape 20"/>
          <p:cNvSpPr/>
          <p:nvPr/>
        </p:nvSpPr>
        <p:spPr>
          <a:xfrm>
            <a:off x="347472" y="37216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47472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6667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Pegar y ejecutar comandos del Runner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9227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47472" y="44074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47472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3525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Runner activo y escuchando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6085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El pipeline se dispara automáticamente con cada push a branch deploy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F79B0DD-2C63-4EE5-804F-B8E391FC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2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7DB8AB-CD55-4C8F-9043-52652B89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482599"/>
            <a:ext cx="4023191" cy="203009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4B0FECD-3F96-1FAD-6402-B9EC4308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009"/>
          <a:stretch>
            <a:fillRect/>
          </a:stretch>
        </p:blipFill>
        <p:spPr>
          <a:xfrm>
            <a:off x="1482530" y="544818"/>
            <a:ext cx="2055724" cy="190435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3059C5A-91CB-4024-9B4E-20082E25C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6441" y="482599"/>
            <a:ext cx="4032605" cy="203009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FD1886-11AE-6F91-6117-3D5A2D665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7260" y="755348"/>
            <a:ext cx="3550486" cy="1482327"/>
          </a:xfrm>
          <a:prstGeom prst="rect">
            <a:avLst/>
          </a:prstGeom>
          <a:noFill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84884BF-A898-4EFF-9504-E13EBE3FF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2635884"/>
            <a:ext cx="4023191" cy="2027555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05AA31-23B1-AE19-F070-394173123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900" y="2970766"/>
            <a:ext cx="3550487" cy="1358060"/>
          </a:xfrm>
          <a:prstGeom prst="rect">
            <a:avLst/>
          </a:prstGeom>
          <a:noFill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B32D337-FDA6-4468-ADB1-7038E5FC0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6441" y="2635884"/>
            <a:ext cx="4032605" cy="203009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BD6FD6-58AF-297E-4F0A-9A3F20C0A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60" y="3205986"/>
            <a:ext cx="3550486" cy="88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3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Principios DevOps Aplicados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Contenedorización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Docker garantiza entornos reproducibles y portables entre desarrollo y producción.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CI/CD Automatizado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GitHub Actions automatiza el ciclo build → push → deploy en cada commit a deploy.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Gestión de secrets, usuario no root en contenedores, acceso SSH con llave .pem.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45720"/>
          </a:xfrm>
          <a:prstGeom prst="rect">
            <a:avLst/>
          </a:prstGeom>
          <a:solidFill>
            <a:srgbClr val="2D9B5A"/>
          </a:solidFill>
          <a:ln w="12700">
            <a:solidFill>
              <a:srgbClr val="2D9B5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74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Persistencia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Volúmenes Docker preservan datos de la base de datos entre reinicios del contenedor.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2004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Arquitectura de microservicios permite escalar cada servicio de forma independiente en AWS.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126480" y="2971800"/>
            <a:ext cx="2743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Trazabilidad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886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Control de versiones en GitHub + logs de GitHub Actions permiten rastrear cada despliegue.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del Proyecto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621792"/>
          </a:xfrm>
          <a:prstGeom prst="rect">
            <a:avLst/>
          </a:prstGeom>
          <a:solidFill>
            <a:srgbClr val="0D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3 microservicios: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</a:rPr>
              <a:t>Frontend + 2 Backends contenedorizados con Docker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621792"/>
          </a:xfrm>
          <a:prstGeom prst="rect">
            <a:avLst/>
          </a:prstGeom>
          <a:solidFill>
            <a:srgbClr val="0D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Docker Hub: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35915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</a:rPr>
              <a:t>Registro de imágenes versionadas (danielx1/...:v1)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7680960" cy="621792"/>
          </a:xfrm>
          <a:prstGeom prst="rect">
            <a:avLst/>
          </a:prstGeom>
          <a:solidFill>
            <a:srgbClr val="0D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GitHub Actions: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090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</a:rPr>
              <a:t>Pipeline CI/CD automático sobre rama deploy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7680960" cy="621792"/>
          </a:xfrm>
          <a:prstGeom prst="rect">
            <a:avLst/>
          </a:prstGeom>
          <a:solidFill>
            <a:srgbClr val="0D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AWS EC2: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82219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</a:rPr>
              <a:t>Despliegue en nube pública con acceso restringido por seguridad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621792"/>
          </a:xfrm>
          <a:prstGeom prst="rect">
            <a:avLst/>
          </a:prstGeom>
          <a:solidFill>
            <a:srgbClr val="0D25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DevOps End-to-End: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5537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</a:rPr>
              <a:t>Contenedorización → Automatización → Nube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</a:rPr>
              <a:t>ISY1101 · Introducción a Herramientas DevOps · DuocUC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768</Words>
  <Application>Microsoft Office PowerPoint</Application>
  <PresentationFormat>Presentación en pantalla (16:9)</PresentationFormat>
  <Paragraphs>188</Paragraphs>
  <Slides>14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EP2 - Herramientas DevOps</dc:title>
  <dc:subject>PptxGenJS Presentation</dc:subject>
  <dc:creator>PptxGenJS</dc:creator>
  <cp:lastModifiedBy>Daniel Morales</cp:lastModifiedBy>
  <cp:revision>2</cp:revision>
  <dcterms:created xsi:type="dcterms:W3CDTF">2026-05-23T21:31:38Z</dcterms:created>
  <dcterms:modified xsi:type="dcterms:W3CDTF">2026-05-23T23:09:56Z</dcterms:modified>
</cp:coreProperties>
</file>